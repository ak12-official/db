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单击以移动幻</a:t>
            </a: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灯片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013BA8-EEDA-4DEA-AB81-86CD89B71BD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6E70A2-220D-4A75-B518-CF873FA4829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D5923E1-5304-4A90-8A58-1E6BFB59413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068DE8-ECBE-43EF-83DF-EE2354EE9F6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4780DC-BFAB-45C5-B8EB-741AE6B9A4B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2CADBE-FE76-46B4-87FA-738396B9483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FBE885-DFFA-4753-A5A2-BDBD4923087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825D53-DAAE-487F-AF60-7DEBE008A4B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DEE9EC-570E-4A66-AF58-E51F9898BF6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A70767-29B0-4B7A-9C51-5E5D6DB2508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769E3B-43B9-4DC8-91E8-85FE7A344AD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272194-351A-4BD6-AEB6-7F43EE5DB39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CABA15-6EB0-4332-BFC0-A0BBA861D57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88AEA4-5869-47A6-BE1E-CB23835DF18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3ED2A4-0194-4494-951F-FD33CD8D8F4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06874C-A3F3-4690-B4BD-70BF3CB1DC7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C06F94-6F38-465F-9267-F5764E4FC6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5C72AD-A27B-4D59-9DFC-0087CD8BBB2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507ED4-9599-4775-BB6E-BEF8E0D2119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3BF177-F815-4272-85B4-1EF01220809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86F33B-9DF5-4EDC-A133-39DFC84801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157229-EDB8-481B-A6B5-A33FA42BA86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F787E3-3507-4C24-9A38-F5A307E1EC3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.png"/><Relationship Id="rId3" Type="http://schemas.openxmlformats.org/officeDocument/2006/relationships/image" Target="../media/image8.jpeg"/><Relationship Id="rId4" Type="http://schemas.openxmlformats.org/officeDocument/2006/relationships/image" Target="../media/image8.jpeg"/><Relationship Id="rId5" Type="http://schemas.openxmlformats.org/officeDocument/2006/relationships/image" Target="../media/image8.jpeg"/><Relationship Id="rId6" Type="http://schemas.openxmlformats.org/officeDocument/2006/relationships/image" Target="../media/image8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-11520"/>
            <a:ext cx="7890840" cy="6837480"/>
          </a:xfrm>
          <a:prstGeom prst="rect">
            <a:avLst/>
          </a:prstGeom>
          <a:gradFill rotWithShape="0">
            <a:gsLst>
              <a:gs pos="0">
                <a:srgbClr val="000002"/>
              </a:gs>
              <a:gs pos="38000">
                <a:srgbClr val="000002"/>
              </a:gs>
              <a:gs pos="100000">
                <a:srgbClr val="4843c2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https://kimi-img.moonshot.cn/pub/slides/slides_tmpl/image/25-09-04-14:36:33-d2sj6se1bb2p4onbprkg.jpg"/>
          <p:cNvPicPr/>
          <p:nvPr/>
        </p:nvPicPr>
        <p:blipFill>
          <a:blip r:embed="rId1"/>
          <a:stretch/>
        </p:blipFill>
        <p:spPr>
          <a:xfrm>
            <a:off x="0" y="-720"/>
            <a:ext cx="12191760" cy="685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413280" y="3368160"/>
            <a:ext cx="5078880" cy="31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5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跨库数据实时同步系统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7747200" y="5477400"/>
            <a:ext cx="4111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汇报人：赵桓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7747200" y="5974560"/>
            <a:ext cx="4111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时间：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2026/01/04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 1" descr="https://kimi-img.moonshot.cn/pub/slides/slides_tmpl/image/25-09-04-14:36:30-d2sj6rm1bb2p4onbprj0.png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7891200" y="-1819440"/>
            <a:ext cx="5326560" cy="524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Image 2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>
            <a:off x="557640" y="653400"/>
            <a:ext cx="596520" cy="5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Image 3" descr="https://kimi-img.moonshot.cn/pub/slides/slides_tmpl/image/25-09-04-14:36:27-d2sj6qu1bb2p4onbprgg.png"/>
          <p:cNvPicPr/>
          <p:nvPr/>
        </p:nvPicPr>
        <p:blipFill>
          <a:blip r:embed="rId4"/>
          <a:stretch/>
        </p:blipFill>
        <p:spPr>
          <a:xfrm>
            <a:off x="11169720" y="4872240"/>
            <a:ext cx="590760" cy="45684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6" descr="https://kimi-img.moonshot.cn/pub/slides/slides_tmpl/image/25-09-04-14:36:30-d2sj6rm1bb2p4onbprjg.jpg"/>
          <p:cNvPicPr/>
          <p:nvPr/>
        </p:nvPicPr>
        <p:blipFill>
          <a:blip r:embed="rId1"/>
          <a:srcRect l="0" t="19717" r="44470" b="0"/>
          <a:stretch/>
        </p:blipFill>
        <p:spPr>
          <a:xfrm>
            <a:off x="4892760" y="0"/>
            <a:ext cx="72990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Shape 10"/>
          <p:cNvSpPr/>
          <p:nvPr/>
        </p:nvSpPr>
        <p:spPr>
          <a:xfrm>
            <a:off x="0" y="0"/>
            <a:ext cx="1040292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71000">
                <a:srgbClr val="9a62fe">
                  <a:alpha val="0"/>
                </a:srgbClr>
              </a:gs>
              <a:gs pos="100000">
                <a:srgbClr val="9a62fe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555480" y="2056680"/>
            <a:ext cx="5130360" cy="44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1"/>
          <p:cNvSpPr/>
          <p:nvPr/>
        </p:nvSpPr>
        <p:spPr>
          <a:xfrm>
            <a:off x="1273320" y="590040"/>
            <a:ext cx="228816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目录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7" descr="https://kimi-img.moonshot.cn/pub/slides/slides_tmpl/image/25-09-04-14:36:30-d2sj6rm1bb2p4onbprj0.png"/>
          <p:cNvPicPr/>
          <p:nvPr/>
        </p:nvPicPr>
        <p:blipFill>
          <a:blip r:embed="rId2">
            <a:alphaModFix amt="80000"/>
          </a:blip>
          <a:stretch/>
        </p:blipFill>
        <p:spPr>
          <a:xfrm rot="2280000">
            <a:off x="509760" y="738720"/>
            <a:ext cx="733680" cy="72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Image 8" descr="https://kimi-img.moonshot.cn/pub/slides/slides_tmpl/image/25-09-04-14:36:27-d2sj6qu1bb2p4onbpri0.png"/>
          <p:cNvPicPr/>
          <p:nvPr/>
        </p:nvPicPr>
        <p:blipFill>
          <a:blip r:embed="rId3"/>
          <a:stretch/>
        </p:blipFill>
        <p:spPr>
          <a:xfrm rot="20640000">
            <a:off x="3284640" y="-2154960"/>
            <a:ext cx="5621760" cy="556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Image 9" descr="https://kimi-img.moonshot.cn/pub/slides/slides_tmpl/image/25-09-04-14:36:27-d2sj6qu1bb2p4onbprhg.png"/>
          <p:cNvPicPr/>
          <p:nvPr/>
        </p:nvPicPr>
        <p:blipFill>
          <a:blip r:embed="rId4">
            <a:alphaModFix amt="60000"/>
          </a:blip>
          <a:stretch/>
        </p:blipFill>
        <p:spPr>
          <a:xfrm rot="16200000">
            <a:off x="728712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Shape 13"/>
          <p:cNvSpPr/>
          <p:nvPr/>
        </p:nvSpPr>
        <p:spPr>
          <a:xfrm>
            <a:off x="555480" y="2741400"/>
            <a:ext cx="5130360" cy="44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4"/>
          <p:cNvSpPr/>
          <p:nvPr/>
        </p:nvSpPr>
        <p:spPr>
          <a:xfrm>
            <a:off x="555480" y="3425760"/>
            <a:ext cx="5130360" cy="44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6"/>
          <p:cNvSpPr/>
          <p:nvPr/>
        </p:nvSpPr>
        <p:spPr>
          <a:xfrm>
            <a:off x="555480" y="4110480"/>
            <a:ext cx="5130360" cy="44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7"/>
          <p:cNvSpPr/>
          <p:nvPr/>
        </p:nvSpPr>
        <p:spPr>
          <a:xfrm>
            <a:off x="555480" y="4794840"/>
            <a:ext cx="5130360" cy="4435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555480" y="2002680"/>
            <a:ext cx="594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1238760" y="2002680"/>
            <a:ext cx="46904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需求分析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555480" y="2693520"/>
            <a:ext cx="594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1238760" y="2693520"/>
            <a:ext cx="46904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架构与技术选型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555480" y="3384720"/>
            <a:ext cx="594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1238760" y="3384720"/>
            <a:ext cx="46904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数据库设计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555480" y="4075560"/>
            <a:ext cx="594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1238760" y="4075560"/>
            <a:ext cx="46904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技术应用和实现原理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555480" y="4766400"/>
            <a:ext cx="594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05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1238760" y="4766400"/>
            <a:ext cx="469044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运行示例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555480" y="5457240"/>
            <a:ext cx="5947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>
              <a:lnSpc>
                <a:spcPct val="12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0" descr="https://kimi-img.moonshot.cn/pub/slides/slides_tmpl/image/25-09-04-14:36:31-d2sj6ru1bb2p4onbprk0.jpg"/>
          <p:cNvPicPr/>
          <p:nvPr/>
        </p:nvPicPr>
        <p:blipFill>
          <a:blip r:embed="rId1"/>
          <a:srcRect l="14915" t="13320" r="60728" b="10864"/>
          <a:stretch/>
        </p:blipFill>
        <p:spPr>
          <a:xfrm rot="10800000">
            <a:off x="6622920" y="1080"/>
            <a:ext cx="5569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Image 1" descr="https://kimi-img.moonshot.cn/pub/slides/slides_tmpl/image/25-09-04-14:36:27-d2sj6qu1bb2p4onbprhg.png"/>
          <p:cNvPicPr/>
          <p:nvPr/>
        </p:nvPicPr>
        <p:blipFill>
          <a:blip r:embed="rId2">
            <a:alphaModFix amt="20000"/>
          </a:blip>
          <a:stretch/>
        </p:blipFill>
        <p:spPr>
          <a:xfrm rot="16200000">
            <a:off x="737964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Image 2" descr="https://kimi-img.moonshot.cn/pub/slides/slides_tmpl/image/25-09-04-14:36:30-d2sj6rm1bb2p4onbprj0.png"/>
          <p:cNvPicPr/>
          <p:nvPr/>
        </p:nvPicPr>
        <p:blipFill>
          <a:blip r:embed="rId3"/>
          <a:stretch/>
        </p:blipFill>
        <p:spPr>
          <a:xfrm rot="14400000">
            <a:off x="594000" y="1102320"/>
            <a:ext cx="5043960" cy="49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0"/>
          <p:cNvSpPr/>
          <p:nvPr/>
        </p:nvSpPr>
        <p:spPr>
          <a:xfrm>
            <a:off x="7129800" y="-900000"/>
            <a:ext cx="5110200" cy="30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20000"/>
              </a:lnSpc>
            </a:pPr>
            <a:r>
              <a:rPr lang="en-US" sz="166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01</a:t>
            </a:r>
            <a:endParaRPr lang="en-US" sz="1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>
            <a:off x="345960" y="766440"/>
            <a:ext cx="569880" cy="47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18"/>
          <p:cNvSpPr/>
          <p:nvPr/>
        </p:nvSpPr>
        <p:spPr>
          <a:xfrm>
            <a:off x="6867720" y="649800"/>
            <a:ext cx="4652280" cy="2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需求分析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730920" y="1980000"/>
            <a:ext cx="5329080" cy="53341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1.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多数据库支持：支持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MySQL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、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Oracle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、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PostgreSQL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多种数据库的跨类型数据同步。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数据同步功能：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支持单表同步和整库同步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支持实时同步和定时同步（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Cron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表达式）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同步表结构、表数据及数据库对象（存储过程、触发器、视图、函数）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用户权限管理：用户注册登录（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JWT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认证）、角色权限控制、数据查询功能。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冲突检测与处理：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自动检测数据冲突并邮件通知管理员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管理员通过邮件链接查看冲突详情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支持选择以源数据库或目标数据库数据为准解决冲突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系统管理：数据库连接管理、同步任务管理（创建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启动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停止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/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执行）、同步日志记录。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https://kimi-img.moonshot.cn/pub/slides/slides_tmpl/image/25-09-04-14:36:27-d2sj6qu1bb2p4onbprgg.png"/>
          <p:cNvPicPr/>
          <p:nvPr/>
        </p:nvPicPr>
        <p:blipFill>
          <a:blip r:embed="rId1"/>
          <a:stretch/>
        </p:blipFill>
        <p:spPr>
          <a:xfrm>
            <a:off x="11028600" y="3200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Shape 0"/>
          <p:cNvSpPr/>
          <p:nvPr/>
        </p:nvSpPr>
        <p:spPr>
          <a:xfrm>
            <a:off x="426600" y="3153240"/>
            <a:ext cx="2526840" cy="76860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3329280" y="1447200"/>
            <a:ext cx="2526840" cy="76860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6231960" y="3153240"/>
            <a:ext cx="2526840" cy="76860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9134640" y="1447200"/>
            <a:ext cx="2526840" cy="76860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235080" y="761400"/>
            <a:ext cx="42026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核心能力一页总览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937440" y="1244520"/>
            <a:ext cx="201636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115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01</a:t>
            </a:r>
            <a:endParaRPr lang="en-U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426240" y="3162960"/>
            <a:ext cx="2526840" cy="7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同步范围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383040" y="3927960"/>
            <a:ext cx="2570760" cy="22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平台支持单表或整库双向同步，涵盖表结构、数据、存储过程、触发器、视图、函数等六类数据库对象，满足不同业务场景下的数据同步需求。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584520" y="4616280"/>
            <a:ext cx="201636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115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02</a:t>
            </a:r>
            <a:endParaRPr lang="en-U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3329280" y="1441440"/>
            <a:ext cx="252684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同步触发模式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3285360" y="2221920"/>
            <a:ext cx="2570760" cy="22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提供秒级实时同步与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Cron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定时同步两种触发模式，可根据业务需求灵活选择，确保数据及时更新。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6742440" y="1342440"/>
            <a:ext cx="201636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115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03</a:t>
            </a:r>
            <a:endParaRPr lang="en-U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231960" y="3153240"/>
            <a:ext cx="2526840" cy="76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冲突检测与处理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6188040" y="3927960"/>
            <a:ext cx="2570760" cy="22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支持冲突检测，自动发现数据不一致并邮件告警，管理员可一键选择以源或目标数据库数据为准解决冲突，保障数据一致性。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9514080" y="4287600"/>
            <a:ext cx="201636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115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04</a:t>
            </a:r>
            <a:endParaRPr lang="en-U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9134640" y="1441440"/>
            <a:ext cx="252684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18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安全与权限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9090720" y="2221920"/>
            <a:ext cx="2570760" cy="227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采用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JWT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身份认证，操作全程留痕，确保数据安全与业务稳定。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Image 0" descr="https://kimi-img.moonshot.cn/pub/slides/slides_tmpl/image/25-09-04-14:36:31-d2sj6ru1bb2p4onbprk0.jpg"/>
          <p:cNvPicPr/>
          <p:nvPr/>
        </p:nvPicPr>
        <p:blipFill>
          <a:blip r:embed="rId1"/>
          <a:srcRect l="14915" t="13320" r="60728" b="10864"/>
          <a:stretch/>
        </p:blipFill>
        <p:spPr>
          <a:xfrm rot="10800000">
            <a:off x="6622920" y="1080"/>
            <a:ext cx="5569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 1" descr="https://kimi-img.moonshot.cn/pub/slides/slides_tmpl/image/25-09-04-14:36:27-d2sj6qu1bb2p4onbprhg.png"/>
          <p:cNvPicPr/>
          <p:nvPr/>
        </p:nvPicPr>
        <p:blipFill>
          <a:blip r:embed="rId2">
            <a:alphaModFix amt="20000"/>
          </a:blip>
          <a:stretch/>
        </p:blipFill>
        <p:spPr>
          <a:xfrm rot="16200000">
            <a:off x="737964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 2" descr="https://kimi-img.moonshot.cn/pub/slides/slides_tmpl/image/25-09-04-14:36:30-d2sj6rm1bb2p4onbprj0.png"/>
          <p:cNvPicPr/>
          <p:nvPr/>
        </p:nvPicPr>
        <p:blipFill>
          <a:blip r:embed="rId3"/>
          <a:stretch/>
        </p:blipFill>
        <p:spPr>
          <a:xfrm rot="14400000">
            <a:off x="594000" y="1102320"/>
            <a:ext cx="5043960" cy="49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0"/>
          <p:cNvSpPr/>
          <p:nvPr/>
        </p:nvSpPr>
        <p:spPr>
          <a:xfrm>
            <a:off x="6622920" y="1781640"/>
            <a:ext cx="5110200" cy="30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20000"/>
              </a:lnSpc>
            </a:pPr>
            <a:r>
              <a:rPr lang="en-US" sz="166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02</a:t>
            </a:r>
            <a:endParaRPr lang="en-US" sz="1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"/>
          <p:cNvSpPr/>
          <p:nvPr/>
        </p:nvSpPr>
        <p:spPr>
          <a:xfrm>
            <a:off x="7190640" y="4969440"/>
            <a:ext cx="4658760" cy="172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7197840" y="5149800"/>
            <a:ext cx="465228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架构与技术选型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>
            <a:off x="345960" y="766440"/>
            <a:ext cx="569880" cy="47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 0" descr="https://kimi-img.moonshot.cn/pub/slides/slides_tmpl/image/25-09-04-14:36:48-d2sj7061bb2p4onbprtg.jpg"/>
          <p:cNvPicPr/>
          <p:nvPr/>
        </p:nvPicPr>
        <p:blipFill>
          <a:blip r:embed="rId1"/>
          <a:srcRect l="34638" t="0" r="0" b="0"/>
          <a:stretch/>
        </p:blipFill>
        <p:spPr>
          <a:xfrm>
            <a:off x="0" y="-720"/>
            <a:ext cx="7968240" cy="685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Image 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3200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Shape 0"/>
          <p:cNvSpPr/>
          <p:nvPr/>
        </p:nvSpPr>
        <p:spPr>
          <a:xfrm>
            <a:off x="4044960" y="1677600"/>
            <a:ext cx="7744680" cy="368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6452280" y="3181320"/>
            <a:ext cx="5317920" cy="38376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6491520" y="4939200"/>
            <a:ext cx="5317920" cy="38376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235080" y="761400"/>
            <a:ext cx="42026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Go</a:t>
            </a: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技术栈性能优势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4044960" y="1677600"/>
            <a:ext cx="349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并发性能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044960" y="2061720"/>
            <a:ext cx="774540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后端基于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Go 1.21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，利用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goroutine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实现高并发调度，大幅提升系统处理能力。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6452280" y="3181320"/>
            <a:ext cx="349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框架与性能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6452280" y="3565440"/>
            <a:ext cx="5337360" cy="125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采用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Gin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框架，提供极低的的路由损耗，配合内置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database/sql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连接池，减少网络往返，优化性能。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6491520" y="4939200"/>
            <a:ext cx="3498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资源占用与效率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6491520" y="5323320"/>
            <a:ext cx="5337360" cy="12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相比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Java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，不需要庞大的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JVM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和繁重的框架、依赖等，内存占用低，响应延迟低，显著提高资源利用效率。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Image 0" descr="https://kimi-img.moonshot.cn/pub/slides/slides_tmpl/image/25-09-04-14:36:27-d2sj6qu1bb2p4onbpri0.png"/>
          <p:cNvPicPr/>
          <p:nvPr/>
        </p:nvPicPr>
        <p:blipFill>
          <a:blip r:embed="rId1">
            <a:alphaModFix amt="40000"/>
          </a:blip>
          <a:stretch/>
        </p:blipFill>
        <p:spPr>
          <a:xfrm rot="19620000">
            <a:off x="4344480" y="-1220760"/>
            <a:ext cx="5621760" cy="556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Image 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3200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Shape 0"/>
          <p:cNvSpPr/>
          <p:nvPr/>
        </p:nvSpPr>
        <p:spPr>
          <a:xfrm>
            <a:off x="705600" y="1688400"/>
            <a:ext cx="7393680" cy="9313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2" descr="https://kimi-img.moonshot.cn/pub/slides/slides_tmpl/image/25-09-04-14:36:31-d2sj6ru1bb2p4onbprk0.jpg"/>
          <p:cNvPicPr/>
          <p:nvPr/>
        </p:nvPicPr>
        <p:blipFill>
          <a:blip r:embed="rId3"/>
          <a:srcRect l="8910" t="52433" r="82810" b="1493"/>
          <a:stretch/>
        </p:blipFill>
        <p:spPr>
          <a:xfrm rot="16200000">
            <a:off x="3789000" y="-1703520"/>
            <a:ext cx="930600" cy="74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Shape 1"/>
          <p:cNvSpPr/>
          <p:nvPr/>
        </p:nvSpPr>
        <p:spPr>
          <a:xfrm>
            <a:off x="4514040" y="3043080"/>
            <a:ext cx="7393680" cy="9313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3" descr="https://kimi-img.moonshot.cn/pub/slides/slides_tmpl/image/25-09-04-14:36:31-d2sj6ru1bb2p4onbprk0.jpg"/>
          <p:cNvPicPr/>
          <p:nvPr/>
        </p:nvPicPr>
        <p:blipFill>
          <a:blip r:embed="rId4"/>
          <a:srcRect l="8910" t="52433" r="82810" b="1493"/>
          <a:stretch/>
        </p:blipFill>
        <p:spPr>
          <a:xfrm rot="16200000">
            <a:off x="7597800" y="-349200"/>
            <a:ext cx="930600" cy="74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Shape 2"/>
          <p:cNvSpPr/>
          <p:nvPr/>
        </p:nvSpPr>
        <p:spPr>
          <a:xfrm>
            <a:off x="606960" y="4410000"/>
            <a:ext cx="7393680" cy="9313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4" descr="https://kimi-img.moonshot.cn/pub/slides/slides_tmpl/image/25-09-04-14:36:31-d2sj6ru1bb2p4onbprk0.jpg"/>
          <p:cNvPicPr/>
          <p:nvPr/>
        </p:nvPicPr>
        <p:blipFill>
          <a:blip r:embed="rId5"/>
          <a:srcRect l="8910" t="52433" r="82810" b="1493"/>
          <a:stretch/>
        </p:blipFill>
        <p:spPr>
          <a:xfrm rot="16200000">
            <a:off x="3690720" y="1017720"/>
            <a:ext cx="930600" cy="74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Shape 3"/>
          <p:cNvSpPr/>
          <p:nvPr/>
        </p:nvSpPr>
        <p:spPr>
          <a:xfrm>
            <a:off x="4415760" y="5764680"/>
            <a:ext cx="7393680" cy="931320"/>
          </a:xfrm>
          <a:prstGeom prst="rect">
            <a:avLst/>
          </a:prstGeom>
          <a:solidFill>
            <a:srgbClr val="bfbf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5" descr="https://kimi-img.moonshot.cn/pub/slides/slides_tmpl/image/25-09-04-14:36:31-d2sj6ru1bb2p4onbprk0.jpg"/>
          <p:cNvPicPr/>
          <p:nvPr/>
        </p:nvPicPr>
        <p:blipFill>
          <a:blip r:embed="rId6"/>
          <a:srcRect l="8910" t="52433" r="82810" b="1493"/>
          <a:stretch/>
        </p:blipFill>
        <p:spPr>
          <a:xfrm rot="16200000">
            <a:off x="7499160" y="2372040"/>
            <a:ext cx="930600" cy="748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4"/>
          <p:cNvSpPr/>
          <p:nvPr/>
        </p:nvSpPr>
        <p:spPr>
          <a:xfrm>
            <a:off x="235080" y="761400"/>
            <a:ext cx="42026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前后端分离云原生架构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5"/>
          <p:cNvSpPr/>
          <p:nvPr/>
        </p:nvSpPr>
        <p:spPr>
          <a:xfrm>
            <a:off x="1445400" y="2943720"/>
            <a:ext cx="261576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业务层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614520" y="1573560"/>
            <a:ext cx="711972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提供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HTTP API 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接口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8196120" y="1574280"/>
            <a:ext cx="261576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表现层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4423320" y="2927880"/>
            <a:ext cx="711972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实现业务处理逻辑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1445400" y="5647680"/>
            <a:ext cx="261576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中间件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516240" y="4295160"/>
            <a:ext cx="711972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使用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GORM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框架建立数据模型，进行数据库操作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8322840" y="4305240"/>
            <a:ext cx="2615760" cy="9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数据层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4325040" y="5649480"/>
            <a:ext cx="711972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JWT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认证、权限、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CORS</a:t>
            </a:r>
            <a:r>
              <a:rPr lang="zh-CN" sz="1400" b="0" u="none" strike="noStrike">
                <a:solidFill>
                  <a:srgbClr val="000000"/>
                </a:solidFill>
                <a:effectLst/>
                <a:uFillTx/>
                <a:latin typeface="MiSans"/>
                <a:ea typeface="MiSans"/>
              </a:rPr>
              <a:t>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 0" descr="https://kimi-img.moonshot.cn/pub/slides/slides_tmpl/image/25-09-04-14:36:31-d2sj6ru1bb2p4onbprk0.jpg"/>
          <p:cNvPicPr/>
          <p:nvPr/>
        </p:nvPicPr>
        <p:blipFill>
          <a:blip r:embed="rId1"/>
          <a:srcRect l="14915" t="13320" r="60728" b="10864"/>
          <a:stretch/>
        </p:blipFill>
        <p:spPr>
          <a:xfrm rot="10800000">
            <a:off x="6622920" y="1080"/>
            <a:ext cx="5569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 1" descr="https://kimi-img.moonshot.cn/pub/slides/slides_tmpl/image/25-09-04-14:36:27-d2sj6qu1bb2p4onbprhg.png"/>
          <p:cNvPicPr/>
          <p:nvPr/>
        </p:nvPicPr>
        <p:blipFill>
          <a:blip r:embed="rId2">
            <a:alphaModFix amt="20000"/>
          </a:blip>
          <a:stretch/>
        </p:blipFill>
        <p:spPr>
          <a:xfrm rot="16200000">
            <a:off x="737964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Image 2" descr="https://kimi-img.moonshot.cn/pub/slides/slides_tmpl/image/25-09-04-14:36:30-d2sj6rm1bb2p4onbprj0.png"/>
          <p:cNvPicPr/>
          <p:nvPr/>
        </p:nvPicPr>
        <p:blipFill>
          <a:blip r:embed="rId3"/>
          <a:stretch/>
        </p:blipFill>
        <p:spPr>
          <a:xfrm rot="14400000">
            <a:off x="594000" y="1102320"/>
            <a:ext cx="5043960" cy="49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0"/>
          <p:cNvSpPr/>
          <p:nvPr/>
        </p:nvSpPr>
        <p:spPr>
          <a:xfrm>
            <a:off x="6622920" y="1781640"/>
            <a:ext cx="5110200" cy="30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20000"/>
              </a:lnSpc>
            </a:pPr>
            <a:r>
              <a:rPr lang="en-US" sz="166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03</a:t>
            </a:r>
            <a:endParaRPr lang="en-US" sz="1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7190640" y="4969440"/>
            <a:ext cx="4658760" cy="172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7197840" y="5149800"/>
            <a:ext cx="465228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数据库设计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>
            <a:off x="345960" y="766440"/>
            <a:ext cx="569880" cy="47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https://kimi-img.moonshot.cn/pub/slides/slides_tmpl/image/25-09-04-14:36:48-d2sj7061bb2p4onbprt0.jpg"/>
          <p:cNvPicPr/>
          <p:nvPr/>
        </p:nvPicPr>
        <p:blipFill>
          <a:blip r:embed="rId1"/>
          <a:stretch/>
        </p:blipFill>
        <p:spPr>
          <a:xfrm>
            <a:off x="414720" y="1539720"/>
            <a:ext cx="2598120" cy="443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Shape 0"/>
          <p:cNvSpPr/>
          <p:nvPr/>
        </p:nvSpPr>
        <p:spPr>
          <a:xfrm>
            <a:off x="4044960" y="1677600"/>
            <a:ext cx="7744680" cy="368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3200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Image 2" descr="https://kimi-img.moonshot.cn/pub/slides/slides_tmpl/image/25-09-04-14:36:27-d2sj6qu1bb2p4onbprgg.png"/>
          <p:cNvPicPr/>
          <p:nvPr/>
        </p:nvPicPr>
        <p:blipFill>
          <a:blip r:embed="rId3"/>
          <a:stretch/>
        </p:blipFill>
        <p:spPr>
          <a:xfrm>
            <a:off x="3154680" y="155592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Shape 1"/>
          <p:cNvSpPr/>
          <p:nvPr/>
        </p:nvSpPr>
        <p:spPr>
          <a:xfrm>
            <a:off x="4044960" y="3171960"/>
            <a:ext cx="7744680" cy="368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044960" y="4650840"/>
            <a:ext cx="7744680" cy="368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3" descr="https://kimi-img.moonshot.cn/pub/slides/slides_tmpl/image/25-09-04-14:36:27-d2sj6qu1bb2p4onbprgg.png"/>
          <p:cNvPicPr/>
          <p:nvPr/>
        </p:nvPicPr>
        <p:blipFill>
          <a:blip r:embed="rId4"/>
          <a:stretch/>
        </p:blipFill>
        <p:spPr>
          <a:xfrm>
            <a:off x="3168720" y="304848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Image 4" descr="https://kimi-img.moonshot.cn/pub/slides/slides_tmpl/image/25-09-04-14:36:27-d2sj6qu1bb2p4onbprgg.png"/>
          <p:cNvPicPr/>
          <p:nvPr/>
        </p:nvPicPr>
        <p:blipFill>
          <a:blip r:embed="rId5"/>
          <a:stretch/>
        </p:blipFill>
        <p:spPr>
          <a:xfrm>
            <a:off x="3185280" y="454140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Text 3"/>
          <p:cNvSpPr/>
          <p:nvPr/>
        </p:nvSpPr>
        <p:spPr>
          <a:xfrm>
            <a:off x="235080" y="761400"/>
            <a:ext cx="42026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元数据表关系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4044960" y="1677600"/>
            <a:ext cx="7732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users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4044960" y="2061720"/>
            <a:ext cx="774540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users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表保存用户账号、角色等信息，用于用户注册登录与权限管理，确保系统操作的安全性与合规性。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4044960" y="3171960"/>
            <a:ext cx="7764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database_connections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4044960" y="3556080"/>
            <a:ext cx="774540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database_connections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表记录异构数据库连接串与类型，为系统连接不同数据库提供配置基础，支持多数据库管理。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4044960" y="4650840"/>
            <a:ext cx="7732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sync_tasks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4044960" y="5034960"/>
            <a:ext cx="7745400" cy="10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sync_tasks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表定义同步任务的源目标、范围、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Cron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表达式及状态，是同步任务管理的核心，确保任务有序执行。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https://kimi-img.moonshot.cn/pub/slides/slides_tmpl/image/25-09-04-14:36:43-d2sj6uu1bb2p4onbprp0.jpg"/>
          <p:cNvPicPr/>
          <p:nvPr/>
        </p:nvPicPr>
        <p:blipFill>
          <a:blip r:embed="rId1"/>
          <a:stretch/>
        </p:blipFill>
        <p:spPr>
          <a:xfrm>
            <a:off x="3930480" y="0"/>
            <a:ext cx="82609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Image 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0"/>
          <p:cNvSpPr/>
          <p:nvPr/>
        </p:nvSpPr>
        <p:spPr>
          <a:xfrm>
            <a:off x="235080" y="831240"/>
            <a:ext cx="42026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元数据表关系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278640" y="1281240"/>
            <a:ext cx="4950360" cy="7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data_conflicts</a:t>
            </a: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277560" y="1948680"/>
            <a:ext cx="4950360" cy="14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data_conflicts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表存储数据冲突的字段、哈希值、处理策略等信息，为冲突检测与处理提供数据支持，保障数据一致性。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305280" y="3615840"/>
            <a:ext cx="4950360" cy="79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日志表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304200" y="4282920"/>
            <a:ext cx="3947400" cy="239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just">
              <a:lnSpc>
                <a:spcPct val="13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sync_logs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与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object_sync_logs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分别记录行级与对象级日志，形成完整的数据同步链路血缘，便于问题排查与审计。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Image 0" descr="https://kimi-img.moonshot.cn/pub/slides/slides_tmpl/image/25-09-04-14:36:31-d2sj6ru1bb2p4onbprk0.jpg"/>
          <p:cNvPicPr/>
          <p:nvPr/>
        </p:nvPicPr>
        <p:blipFill>
          <a:blip r:embed="rId1"/>
          <a:srcRect l="14915" t="13320" r="60728" b="10864"/>
          <a:stretch/>
        </p:blipFill>
        <p:spPr>
          <a:xfrm rot="10800000">
            <a:off x="6622920" y="1080"/>
            <a:ext cx="5569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https://kimi-img.moonshot.cn/pub/slides/slides_tmpl/image/25-09-04-14:36:27-d2sj6qu1bb2p4onbprhg.png"/>
          <p:cNvPicPr/>
          <p:nvPr/>
        </p:nvPicPr>
        <p:blipFill>
          <a:blip r:embed="rId2">
            <a:alphaModFix amt="20000"/>
          </a:blip>
          <a:stretch/>
        </p:blipFill>
        <p:spPr>
          <a:xfrm rot="16200000">
            <a:off x="737964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Image 2" descr="https://kimi-img.moonshot.cn/pub/slides/slides_tmpl/image/25-09-04-14:36:30-d2sj6rm1bb2p4onbprj0.png"/>
          <p:cNvPicPr/>
          <p:nvPr/>
        </p:nvPicPr>
        <p:blipFill>
          <a:blip r:embed="rId3"/>
          <a:stretch/>
        </p:blipFill>
        <p:spPr>
          <a:xfrm rot="14400000">
            <a:off x="594000" y="1102320"/>
            <a:ext cx="5043960" cy="49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0"/>
          <p:cNvSpPr/>
          <p:nvPr/>
        </p:nvSpPr>
        <p:spPr>
          <a:xfrm>
            <a:off x="6622920" y="1781640"/>
            <a:ext cx="5110200" cy="30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20000"/>
              </a:lnSpc>
            </a:pPr>
            <a:r>
              <a:rPr lang="en-US" sz="166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04</a:t>
            </a:r>
            <a:endParaRPr lang="en-US" sz="1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7190640" y="4969440"/>
            <a:ext cx="4658760" cy="172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7197840" y="5149800"/>
            <a:ext cx="465228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技术应用和实现原理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>
            <a:off x="345960" y="766440"/>
            <a:ext cx="569880" cy="47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 0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Shape 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Image 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Shape 1"/>
          <p:cNvSpPr/>
          <p:nvPr/>
        </p:nvSpPr>
        <p:spPr>
          <a:xfrm>
            <a:off x="336600" y="2318400"/>
            <a:ext cx="246096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2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Image 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Image 4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Shape 4"/>
          <p:cNvSpPr/>
          <p:nvPr/>
        </p:nvSpPr>
        <p:spPr>
          <a:xfrm>
            <a:off x="3270960" y="2340000"/>
            <a:ext cx="2460960" cy="4171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6167160" y="234000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表结构同步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pPr algn="ctr">
              <a:lnSpc>
                <a:spcPct val="12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通过查询源数据库的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`information_schema` 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系统表获取表结构信息（列名、数据类型、约束、索引等）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pPr algn="ctr">
              <a:lnSpc>
                <a:spcPct val="12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根据目标数据库类型生成对应的 </a:t>
            </a: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DDL </a:t>
            </a: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语句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8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9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6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检查目标表是否存在，不存在则创建，存在则对比差异并更新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0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pPr algn="ctr">
              <a:lnSpc>
                <a:spcPct val="12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1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2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9419040" y="103284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MySQL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：使用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`information_schema.COLUMNS`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、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`information_schema.KEY_COLUMN_USAGE`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查询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PostgreSQL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：使用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`information_schema.columns`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、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`pg_constraint`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查询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Oracle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：使用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`user_tab_columns`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、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`user_constraints`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查询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处理不同数据库间的数据类型映射（如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MySQL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的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`AUTO_INCREMENT`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对应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PostgreSQL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的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`SERIAL`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 10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Shap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1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Shape 20"/>
          <p:cNvSpPr/>
          <p:nvPr/>
        </p:nvSpPr>
        <p:spPr>
          <a:xfrm>
            <a:off x="336600" y="2318400"/>
            <a:ext cx="246096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12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Image 1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Image 14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Shape 22"/>
          <p:cNvSpPr/>
          <p:nvPr/>
        </p:nvSpPr>
        <p:spPr>
          <a:xfrm>
            <a:off x="3270960" y="2340000"/>
            <a:ext cx="2460960" cy="4171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3"/>
          <p:cNvSpPr/>
          <p:nvPr/>
        </p:nvSpPr>
        <p:spPr>
          <a:xfrm>
            <a:off x="6167160" y="234000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4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表数据同步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4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5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5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从源数据库查询数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据（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`SELECT *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FROM table`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6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6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7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批量读取数据（默认每批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100 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条）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7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8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使用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UPSERT 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操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作同步到目标数据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库（存在则更新，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不存在则插入）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9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0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Image 15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Shape 2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16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Shape 30"/>
          <p:cNvSpPr/>
          <p:nvPr/>
        </p:nvSpPr>
        <p:spPr>
          <a:xfrm>
            <a:off x="336600" y="2318400"/>
            <a:ext cx="246096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17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Image 18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Image 19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Shape 31"/>
          <p:cNvSpPr/>
          <p:nvPr/>
        </p:nvSpPr>
        <p:spPr>
          <a:xfrm>
            <a:off x="3270960" y="2340000"/>
            <a:ext cx="2460960" cy="4171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2"/>
          <p:cNvSpPr/>
          <p:nvPr/>
        </p:nvSpPr>
        <p:spPr>
          <a:xfrm>
            <a:off x="6167160" y="234000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3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1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存储过程同步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2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4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3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查询源数据库的存储过程列表（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`information_schema.ROUTINES`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4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35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5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获取存储过程的完整定义（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MySQL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`SHOW CREATE PROCEDURE`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；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PostgreSQL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`pg_get_functiondef`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；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Oracle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`all_source`</a:t>
            </a: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6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6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进行语法转换（如标识符引号、数据类型等）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在目标数据库执行创建语句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7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37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48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Image 20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Shape 3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2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Shape 39"/>
          <p:cNvSpPr/>
          <p:nvPr/>
        </p:nvSpPr>
        <p:spPr>
          <a:xfrm>
            <a:off x="336600" y="2318400"/>
            <a:ext cx="246096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Image 22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Image 2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Image 24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Shape 40"/>
          <p:cNvSpPr/>
          <p:nvPr/>
        </p:nvSpPr>
        <p:spPr>
          <a:xfrm>
            <a:off x="3270960" y="2340000"/>
            <a:ext cx="2460960" cy="4171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41"/>
          <p:cNvSpPr/>
          <p:nvPr/>
        </p:nvSpPr>
        <p:spPr>
          <a:xfrm>
            <a:off x="6167160" y="234000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2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9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函数同步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0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43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51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与存储过程类似，通过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`information_schema.ROUTINES` 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查询函数列表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2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4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3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获取函数定义并转换语法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5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4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在目标数据库创建函数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5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6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6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Image 25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Shape 4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Image 26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Shape 48"/>
          <p:cNvSpPr/>
          <p:nvPr/>
        </p:nvSpPr>
        <p:spPr>
          <a:xfrm>
            <a:off x="336600" y="2318400"/>
            <a:ext cx="246096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27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Image 28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Image 29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Shape 49"/>
          <p:cNvSpPr/>
          <p:nvPr/>
        </p:nvSpPr>
        <p:spPr>
          <a:xfrm>
            <a:off x="3270960" y="2340000"/>
            <a:ext cx="2460960" cy="4171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50"/>
          <p:cNvSpPr/>
          <p:nvPr/>
        </p:nvSpPr>
        <p:spPr>
          <a:xfrm>
            <a:off x="6167160" y="234000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51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57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视图同步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8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2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9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查询源数据库视图列表（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`information_schema.VIEWS`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0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3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1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获取视图定义（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MySQL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`SHOW CREATE VIEW`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；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PostgreSQL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`pg_views.definition`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；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Oracle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`all_views.text`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54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2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转换视图中的表名、列名引用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在目标数据库创建视图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3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55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64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Image 30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Shape 5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3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Shape 57"/>
          <p:cNvSpPr/>
          <p:nvPr/>
        </p:nvSpPr>
        <p:spPr>
          <a:xfrm>
            <a:off x="336600" y="2318400"/>
            <a:ext cx="246096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32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Image 3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Image 34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Shape 58"/>
          <p:cNvSpPr/>
          <p:nvPr/>
        </p:nvSpPr>
        <p:spPr>
          <a:xfrm>
            <a:off x="3270960" y="2340000"/>
            <a:ext cx="2460960" cy="41716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9"/>
          <p:cNvSpPr/>
          <p:nvPr/>
        </p:nvSpPr>
        <p:spPr>
          <a:xfrm>
            <a:off x="6167160" y="2340000"/>
            <a:ext cx="2460960" cy="4187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60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5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触发器同步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66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61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7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查询触发器列表（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`information_schema.TRIGGERS`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68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62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9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获取触发器定义（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MySQL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`SHOW CREATE TRIGGER`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；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PostgreSQL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`pg_get_triggerdef`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；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Oracle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：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`all_triggers.trigger_body`</a:t>
            </a: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3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0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转换触发器语法（事件类型、执行时机、触发逻辑）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1000" b="0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在目标数据库创建触发器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71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64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72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Image 35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Shape 6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Image 36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Shape 66"/>
          <p:cNvSpPr/>
          <p:nvPr/>
        </p:nvSpPr>
        <p:spPr>
          <a:xfrm>
            <a:off x="336600" y="2318400"/>
            <a:ext cx="794340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实现策略：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标识符处理：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MySQL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使用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反引号（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\`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），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PostgreSQL/Oracle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使用双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引号（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"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）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数据类型映射：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`AUTO_INCREMENT` ↔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`SERIAL`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，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`DATETIME`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↔ `TIMESTAMP`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函数转换：数据库特定函数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需要转换为目标数据库等价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函数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保留字处理：不同数据库的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保留字列表不同，需要适当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加引号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6" name="Image 37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Image 38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Image 39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Shape 69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73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跨数据库语法转换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74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70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5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76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71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77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72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8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pPr algn="just">
              <a:lnSpc>
                <a:spcPct val="13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79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73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0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 40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Shape 6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Image 41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Shape 68"/>
          <p:cNvSpPr/>
          <p:nvPr/>
        </p:nvSpPr>
        <p:spPr>
          <a:xfrm>
            <a:off x="336600" y="2318400"/>
            <a:ext cx="794340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zh-CN" sz="4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实现策略：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基于主键比较源数据库和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目标数据库的数据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逐行对比数据内容，发现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不一致则记录冲突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时间类型统一转换为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UTC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后比较，避免时区差异误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判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42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Image 4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Image 44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Shape 74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81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冲突检测机制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2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75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83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84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76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85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77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86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87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78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88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Image 45" descr="https://kimi-img.moonshot.cn/pub/slides/slides_tmpl/image/25-09-04-14:36:35-d2sj6su1bb2p4onbprmg.jpg"/>
          <p:cNvPicPr/>
          <p:nvPr/>
        </p:nvPicPr>
        <p:blipFill>
          <a:blip r:embed="rId1"/>
          <a:stretch/>
        </p:blipFill>
        <p:spPr>
          <a:xfrm>
            <a:off x="0" y="0"/>
            <a:ext cx="12191760" cy="683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Shape 7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426af4"/>
              </a:gs>
              <a:gs pos="100000">
                <a:srgbClr val="9a62fe">
                  <a:alpha val="75000"/>
                </a:srgbClr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46" descr="https://kimi-img.moonshot.cn/pub/slides/slides_tmpl/image/25-09-04-14:36:27-d2sj6qu1bb2p4onbprgg.png"/>
          <p:cNvPicPr/>
          <p:nvPr/>
        </p:nvPicPr>
        <p:blipFill>
          <a:blip r:embed="rId2"/>
          <a:stretch/>
        </p:blipFill>
        <p:spPr>
          <a:xfrm>
            <a:off x="11028600" y="177840"/>
            <a:ext cx="780840" cy="60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Shape 80"/>
          <p:cNvSpPr/>
          <p:nvPr/>
        </p:nvSpPr>
        <p:spPr>
          <a:xfrm>
            <a:off x="336600" y="2318400"/>
            <a:ext cx="7943400" cy="41616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lang="zh-CN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实现策略：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批量读取：每次读取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条记录，减少内存占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用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批量写入：使用批量 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INSERT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语句，提高写入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效率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事务控制：每个批次独立事务，失败不影响其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他批次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- </a:t>
            </a:r>
            <a:r>
              <a:rPr lang="zh-CN" sz="1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连接池管理：复用数据库连接，减少连接开销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47" descr="https://kimi-img.moonshot.cn/pub/slides/slides_tmpl/image/25-09-04-14:36:27-d2sj6qu1bb2p4onbprh0.png"/>
          <p:cNvPicPr/>
          <p:nvPr/>
        </p:nvPicPr>
        <p:blipFill>
          <a:blip r:embed="rId3"/>
          <a:stretch/>
        </p:blipFill>
        <p:spPr>
          <a:xfrm flipH="1" rot="10800000">
            <a:off x="123372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Image 48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 flipH="1" rot="10800000">
            <a:off x="416880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Image 49" descr="https://kimi-img.moonshot.cn/pub/slides/slides_tmpl/image/25-09-04-14:36:27-d2sj6qu1bb2p4onbprh0.png"/>
          <p:cNvPicPr/>
          <p:nvPr/>
        </p:nvPicPr>
        <p:blipFill>
          <a:blip r:embed="rId5"/>
          <a:stretch/>
        </p:blipFill>
        <p:spPr>
          <a:xfrm flipH="1" rot="10800000">
            <a:off x="7103880" y="1350360"/>
            <a:ext cx="887400" cy="74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Shape 81"/>
          <p:cNvSpPr/>
          <p:nvPr/>
        </p:nvSpPr>
        <p:spPr>
          <a:xfrm>
            <a:off x="302760" y="688320"/>
            <a:ext cx="4081320" cy="4003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9"/>
          <p:cNvSpPr/>
          <p:nvPr/>
        </p:nvSpPr>
        <p:spPr>
          <a:xfrm>
            <a:off x="302760" y="700560"/>
            <a:ext cx="40820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>
              <a:lnSpc>
                <a:spcPct val="120000"/>
              </a:lnSpc>
              <a:spcBef>
                <a:spcPts val="1191"/>
              </a:spcBef>
              <a:spcAft>
                <a:spcPts val="992"/>
              </a:spcAft>
            </a:pPr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批量处理优化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0"/>
          <p:cNvSpPr/>
          <p:nvPr/>
        </p:nvSpPr>
        <p:spPr>
          <a:xfrm>
            <a:off x="3913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82"/>
          <p:cNvSpPr/>
          <p:nvPr/>
        </p:nvSpPr>
        <p:spPr>
          <a:xfrm flipH="1">
            <a:off x="425520" y="314208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91"/>
          <p:cNvSpPr/>
          <p:nvPr/>
        </p:nvSpPr>
        <p:spPr>
          <a:xfrm>
            <a:off x="4262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2"/>
          <p:cNvSpPr/>
          <p:nvPr/>
        </p:nvSpPr>
        <p:spPr>
          <a:xfrm>
            <a:off x="3264120" y="2318400"/>
            <a:ext cx="240624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83"/>
          <p:cNvSpPr/>
          <p:nvPr/>
        </p:nvSpPr>
        <p:spPr>
          <a:xfrm flipH="1">
            <a:off x="3321720" y="31370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3"/>
          <p:cNvSpPr/>
          <p:nvPr/>
        </p:nvSpPr>
        <p:spPr>
          <a:xfrm>
            <a:off x="326412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84"/>
          <p:cNvSpPr/>
          <p:nvPr/>
        </p:nvSpPr>
        <p:spPr>
          <a:xfrm flipH="1">
            <a:off x="6217920" y="315216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94"/>
          <p:cNvSpPr/>
          <p:nvPr/>
        </p:nvSpPr>
        <p:spPr>
          <a:xfrm>
            <a:off x="6218640" y="238464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95"/>
          <p:cNvSpPr/>
          <p:nvPr/>
        </p:nvSpPr>
        <p:spPr>
          <a:xfrm>
            <a:off x="9063360" y="2318400"/>
            <a:ext cx="24069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7128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85"/>
          <p:cNvSpPr/>
          <p:nvPr/>
        </p:nvSpPr>
        <p:spPr>
          <a:xfrm flipH="1">
            <a:off x="911484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96"/>
          <p:cNvSpPr/>
          <p:nvPr/>
        </p:nvSpPr>
        <p:spPr>
          <a:xfrm>
            <a:off x="9115560" y="3103920"/>
            <a:ext cx="2290680" cy="33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160" rIns="90000" tIns="90000" bIns="47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Image 50" descr="https://kimi-img.moonshot.cn/pub/slides/slides_tmpl/image/25-09-04-14:36:31-d2sj6ru1bb2p4onbprk0.jpg"/>
          <p:cNvPicPr/>
          <p:nvPr/>
        </p:nvPicPr>
        <p:blipFill>
          <a:blip r:embed="rId1"/>
          <a:srcRect l="14915" t="13320" r="60728" b="10864"/>
          <a:stretch/>
        </p:blipFill>
        <p:spPr>
          <a:xfrm rot="10800000">
            <a:off x="6622920" y="1080"/>
            <a:ext cx="5569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Image 51" descr="https://kimi-img.moonshot.cn/pub/slides/slides_tmpl/image/25-09-04-14:36:27-d2sj6qu1bb2p4onbprhg.png"/>
          <p:cNvPicPr/>
          <p:nvPr/>
        </p:nvPicPr>
        <p:blipFill>
          <a:blip r:embed="rId2">
            <a:alphaModFix amt="20000"/>
          </a:blip>
          <a:stretch/>
        </p:blipFill>
        <p:spPr>
          <a:xfrm rot="16200000">
            <a:off x="737964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Image 52" descr="https://kimi-img.moonshot.cn/pub/slides/slides_tmpl/image/25-09-04-14:36:30-d2sj6rm1bb2p4onbprj0.png"/>
          <p:cNvPicPr/>
          <p:nvPr/>
        </p:nvPicPr>
        <p:blipFill>
          <a:blip r:embed="rId3"/>
          <a:stretch/>
        </p:blipFill>
        <p:spPr>
          <a:xfrm rot="14400000">
            <a:off x="594000" y="1102320"/>
            <a:ext cx="5043960" cy="49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 97"/>
          <p:cNvSpPr/>
          <p:nvPr/>
        </p:nvSpPr>
        <p:spPr>
          <a:xfrm>
            <a:off x="6622920" y="1781640"/>
            <a:ext cx="5110200" cy="30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20000"/>
              </a:lnSpc>
            </a:pPr>
            <a:r>
              <a:rPr lang="en-US" sz="166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05</a:t>
            </a:r>
            <a:endParaRPr lang="en-US" sz="1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5"/>
          <p:cNvSpPr/>
          <p:nvPr/>
        </p:nvSpPr>
        <p:spPr>
          <a:xfrm>
            <a:off x="7190640" y="4969440"/>
            <a:ext cx="4658760" cy="1727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98"/>
          <p:cNvSpPr/>
          <p:nvPr/>
        </p:nvSpPr>
        <p:spPr>
          <a:xfrm>
            <a:off x="7197840" y="5149800"/>
            <a:ext cx="465228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r>
              <a:rPr lang="zh-CN" sz="44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示例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 53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>
            <a:off x="345960" y="766440"/>
            <a:ext cx="569880" cy="47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Image 54" descr="https://kimi-img.moonshot.cn/pub/slides/slides_tmpl/image/25-09-04-14:36:31-d2sj6ru1bb2p4onbprk0.jpg"/>
          <p:cNvPicPr/>
          <p:nvPr/>
        </p:nvPicPr>
        <p:blipFill>
          <a:blip r:embed="rId1"/>
          <a:srcRect l="14915" t="13320" r="60728" b="10864"/>
          <a:stretch/>
        </p:blipFill>
        <p:spPr>
          <a:xfrm rot="10800000">
            <a:off x="6622920" y="1080"/>
            <a:ext cx="5569200" cy="685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Image 55" descr="https://kimi-img.moonshot.cn/pub/slides/slides_tmpl/image/25-09-04-14:36:27-d2sj6qu1bb2p4onbprhg.png"/>
          <p:cNvPicPr/>
          <p:nvPr/>
        </p:nvPicPr>
        <p:blipFill>
          <a:blip r:embed="rId2">
            <a:alphaModFix amt="20000"/>
          </a:blip>
          <a:stretch/>
        </p:blipFill>
        <p:spPr>
          <a:xfrm rot="16200000">
            <a:off x="7379640" y="1793520"/>
            <a:ext cx="6697800" cy="31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Image 56" descr="https://kimi-img.moonshot.cn/pub/slides/slides_tmpl/image/25-09-04-14:36:30-d2sj6rm1bb2p4onbprj0.png"/>
          <p:cNvPicPr/>
          <p:nvPr/>
        </p:nvPicPr>
        <p:blipFill>
          <a:blip r:embed="rId3"/>
          <a:stretch/>
        </p:blipFill>
        <p:spPr>
          <a:xfrm rot="14400000">
            <a:off x="594000" y="1102320"/>
            <a:ext cx="5043960" cy="497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 99"/>
          <p:cNvSpPr/>
          <p:nvPr/>
        </p:nvSpPr>
        <p:spPr>
          <a:xfrm>
            <a:off x="6622920" y="1781640"/>
            <a:ext cx="5110200" cy="30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r">
              <a:lnSpc>
                <a:spcPct val="120000"/>
              </a:lnSpc>
            </a:pPr>
            <a:r>
              <a:rPr lang="en-US" sz="16600" b="1" u="none" strike="noStrike">
                <a:solidFill>
                  <a:srgbClr val="ffffff"/>
                </a:solidFill>
                <a:effectLst/>
                <a:uFillTx/>
                <a:latin typeface="MiSans"/>
                <a:ea typeface="MiSans"/>
              </a:rPr>
              <a:t>END</a:t>
            </a:r>
            <a:endParaRPr lang="en-US" sz="1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00"/>
          <p:cNvSpPr/>
          <p:nvPr/>
        </p:nvSpPr>
        <p:spPr>
          <a:xfrm>
            <a:off x="7197840" y="5149800"/>
            <a:ext cx="4652280" cy="15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>
              <a:lnSpc>
                <a:spcPct val="12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57" descr="https://kimi-img.moonshot.cn/pub/slides/slides_tmpl/image/25-09-04-14:36:27-d2sj6qu1bb2p4onbprh0.png"/>
          <p:cNvPicPr/>
          <p:nvPr/>
        </p:nvPicPr>
        <p:blipFill>
          <a:blip r:embed="rId4"/>
          <a:stretch/>
        </p:blipFill>
        <p:spPr>
          <a:xfrm>
            <a:off x="345960" y="766440"/>
            <a:ext cx="569880" cy="4777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LibreOffice/25.8.4.2$Linux_X86_64 LibreOffice_project/0366609b1de41a39e1896ae41e33c673f2a73802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2026-01-03T13:27:29Z</dcterms:created>
  <dc:creator>Kimi</dc:creator>
  <dc:description/>
  <dc:language>zh-CN</dc:language>
  <cp:lastModifiedBy/>
  <dcterms:modified xsi:type="dcterms:W3CDTF">2026-01-03T22:03:51Z</dcterms:modified>
  <cp:revision>2</cp:revision>
  <dc:subject>跨库数据实时同步平台全景报告</dc:subject>
  <dc:title>跨库数据实时同步平台全景报告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跨库数据实时同步平台全景报告","ContentProducer":"001191110108MACG2KBH8F10000","ProduceID":"19b84058-df02-8c32-8000-0000e494ff17","ReservedCode1":"","ContentPropagator":"001191110108MACG2KBH8F20000","PropagateID":"19b84058-df02-8c32-8000-0000e494ff17","ReservedCode2":""}</vt:lpwstr>
  </property>
  <property fmtid="{D5CDD505-2E9C-101B-9397-08002B2CF9AE}" pid="3" name="Notes">
    <vt:i4>39</vt:i4>
  </property>
  <property fmtid="{D5CDD505-2E9C-101B-9397-08002B2CF9AE}" pid="4" name="PresentationFormat">
    <vt:lpwstr>On-screen Show (16:9)</vt:lpwstr>
  </property>
  <property fmtid="{D5CDD505-2E9C-101B-9397-08002B2CF9AE}" pid="5" name="Slides">
    <vt:i4>39</vt:i4>
  </property>
</Properties>
</file>